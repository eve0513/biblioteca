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6" autoAdjust="0"/>
    <p:restoredTop sz="94660"/>
  </p:normalViewPr>
  <p:slideViewPr>
    <p:cSldViewPr snapToGrid="0">
      <p:cViewPr varScale="1">
        <p:scale>
          <a:sx n="80" d="100"/>
          <a:sy n="80" d="100"/>
        </p:scale>
        <p:origin x="7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FAB6-9246-4F78-849B-451D15A51F2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749-6551-4935-8103-FA4D51C3C44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84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FAB6-9246-4F78-849B-451D15A51F2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749-6551-4935-8103-FA4D51C3C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9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FAB6-9246-4F78-849B-451D15A51F2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749-6551-4935-8103-FA4D51C3C44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732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FAB6-9246-4F78-849B-451D15A51F2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749-6551-4935-8103-FA4D51C3C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738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FAB6-9246-4F78-849B-451D15A51F2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749-6551-4935-8103-FA4D51C3C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5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FAB6-9246-4F78-849B-451D15A51F2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749-6551-4935-8103-FA4D51C3C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8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FAB6-9246-4F78-849B-451D15A51F2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749-6551-4935-8103-FA4D51C3C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7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2E9FAB6-9246-4F78-849B-451D15A51F2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646749-6551-4935-8103-FA4D51C3C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2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FAB6-9246-4F78-849B-451D15A51F2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749-6551-4935-8103-FA4D51C3C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9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FAB6-9246-4F78-849B-451D15A51F2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749-6551-4935-8103-FA4D51C3C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1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FAB6-9246-4F78-849B-451D15A51F2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46749-6551-4935-8103-FA4D51C3C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6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2E9FAB6-9246-4F78-849B-451D15A51F2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D646749-6551-4935-8103-FA4D51C3C44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83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E7765E-D88E-4C80-AF52-083FADA5F4CA}"/>
              </a:ext>
            </a:extLst>
          </p:cNvPr>
          <p:cNvSpPr txBox="1"/>
          <p:nvPr/>
        </p:nvSpPr>
        <p:spPr>
          <a:xfrm>
            <a:off x="2871536" y="1443789"/>
            <a:ext cx="71387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7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Noțiuni de bază ale limbajului C++</a:t>
            </a:r>
            <a:endParaRPr lang="en-US" sz="72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07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D5BAC-E3A0-40AE-820F-8E0FAADE58A0}"/>
              </a:ext>
            </a:extLst>
          </p:cNvPr>
          <p:cNvSpPr txBox="1"/>
          <p:nvPr/>
        </p:nvSpPr>
        <p:spPr>
          <a:xfrm>
            <a:off x="524933" y="382012"/>
            <a:ext cx="11379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Programarea orientată obiect – POO (sau Object Oriented Programming – OOP) este o modalitate de proiectare a programelor în care datele prelucrate și operațiile cu acestea sunt încapsulate în aceeași structură, numită </a:t>
            </a:r>
            <a:r>
              <a:rPr lang="ro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obiect.</a:t>
            </a:r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Funcțiile care fac parte dintr-un obiect au acces la datele care caracterizează acel obiect, iar un program este alcătuit din mai multe obiecte, care interacționează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99707-205E-4577-A88D-446F2C9F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510" y="2669543"/>
            <a:ext cx="5774046" cy="316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898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D5BAC-E3A0-40AE-820F-8E0FAADE58A0}"/>
              </a:ext>
            </a:extLst>
          </p:cNvPr>
          <p:cNvSpPr txBox="1"/>
          <p:nvPr/>
        </p:nvSpPr>
        <p:spPr>
          <a:xfrm>
            <a:off x="524933" y="382012"/>
            <a:ext cx="11379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o-RO" sz="2400" dirty="0">
                <a:solidFill>
                  <a:schemeClr val="tx1">
                    <a:alpha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Programarea orientată obiect – POO (sau Object Oriented Programming – OOP) este o modalitate de proiectare a programelor în care datele prelucrate și operațiile cu acestea sunt încapsulate în aceeași structură, numită </a:t>
            </a:r>
            <a:r>
              <a:rPr lang="ro-RO" sz="2400" b="1" dirty="0">
                <a:solidFill>
                  <a:schemeClr val="tx1">
                    <a:alpha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obiect.</a:t>
            </a:r>
            <a:r>
              <a:rPr lang="ro-RO" sz="2400" dirty="0">
                <a:solidFill>
                  <a:schemeClr val="tx1">
                    <a:alpha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Funcțiile care fac parte dintr-un obiect au acces la datele care caracterizează acel obiect, iar un program este alcătuit din mai multe obiecte, care interacționează</a:t>
            </a:r>
            <a:r>
              <a:rPr lang="en-US" sz="2400" dirty="0">
                <a:solidFill>
                  <a:schemeClr val="tx1">
                    <a:alpha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99707-205E-4577-A88D-446F2C9F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977" y="2617487"/>
            <a:ext cx="5774046" cy="3168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CA40A4-FF52-40EA-B859-AD133F170CE2}"/>
              </a:ext>
            </a:extLst>
          </p:cNvPr>
          <p:cNvSpPr txBox="1"/>
          <p:nvPr/>
        </p:nvSpPr>
        <p:spPr>
          <a:xfrm>
            <a:off x="168674" y="3429000"/>
            <a:ext cx="31588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Datele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 funcțiile sunt separate. Acest model folosește proceduri(funcții) pentru a manipula datele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22D01-F21E-4A36-A0F9-7728CBC92551}"/>
              </a:ext>
            </a:extLst>
          </p:cNvPr>
          <p:cNvSpPr txBox="1"/>
          <p:nvPr/>
        </p:nvSpPr>
        <p:spPr>
          <a:xfrm>
            <a:off x="8983023" y="3232266"/>
            <a:ext cx="31588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Datele și funcțiile sunt incapsulate în obiecte. Obiectele conțin atât date, cât și metode(funcții) care operează asupra acestor date.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318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37C59B-7F96-45E7-BCB5-8C3418761154}"/>
              </a:ext>
            </a:extLst>
          </p:cNvPr>
          <p:cNvSpPr txBox="1"/>
          <p:nvPr/>
        </p:nvSpPr>
        <p:spPr>
          <a:xfrm>
            <a:off x="3200400" y="320040"/>
            <a:ext cx="48234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5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Obiecte</a:t>
            </a:r>
            <a:endParaRPr lang="en-US" sz="5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2AD23-337F-4A30-881C-AC8679A0CE22}"/>
              </a:ext>
            </a:extLst>
          </p:cNvPr>
          <p:cNvSpPr txBox="1"/>
          <p:nvPr/>
        </p:nvSpPr>
        <p:spPr>
          <a:xfrm>
            <a:off x="364067" y="1270000"/>
            <a:ext cx="1146386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Un obiect este o reprezentare a unei entități din lumea reală asupra căruia se poate întreprinde o acţiune sau care poate întreprine o acţiune. Un obiect este o instanţă a unei clase. El este unic determinat de numele său şi are o stare reprezentată de valorile atributelor sale la un anumit moment particular.</a:t>
            </a:r>
          </a:p>
          <a:p>
            <a:pPr algn="just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Un obiect este caracterizat de: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⁃ nume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⁃ atribute (date)</a:t>
            </a:r>
          </a:p>
          <a:p>
            <a:pPr algn="just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⁃ valorile atributelor la un moment dat definesc 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starea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obiectului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Metode (funcții/ operații)</a:t>
            </a:r>
          </a:p>
          <a:p>
            <a:pPr lvl="2" algn="just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⁃ subprograme, implementează comportamentul</a:t>
            </a:r>
          </a:p>
          <a:p>
            <a:pPr lvl="2" algn="just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⁃ apel metodă = transmitere mesaj, acţiune asupra obiectului</a:t>
            </a:r>
          </a:p>
          <a:p>
            <a:pPr lvl="2" algn="just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⁃ execuţie metodă = răspuns la mesaj, reacţie a obiectului, poate duce la modificarea stării.</a:t>
            </a:r>
          </a:p>
          <a:p>
            <a:pPr lvl="2" algn="just"/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de obiecte</a:t>
            </a:r>
          </a:p>
          <a:p>
            <a:pPr lvl="2" algn="just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Automobil					 - Imobil					 - Animal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13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B3A218-0663-41AC-ABA9-BBA1D9E65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8338026" cy="4511510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103C7E2-4772-465B-98A4-7A0C745C5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69220"/>
              </p:ext>
            </p:extLst>
          </p:nvPr>
        </p:nvGraphicFramePr>
        <p:xfrm>
          <a:off x="7943850" y="2300605"/>
          <a:ext cx="3797300" cy="3174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7300">
                  <a:extLst>
                    <a:ext uri="{9D8B030D-6E8A-4147-A177-3AD203B41FA5}">
                      <a16:colId xmlns:a16="http://schemas.microsoft.com/office/drawing/2014/main" val="304686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o-RO" sz="28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ContBancar</a:t>
                      </a:r>
                      <a:endParaRPr lang="en-US" sz="28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258581"/>
                  </a:ext>
                </a:extLst>
              </a:tr>
              <a:tr h="1470182"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ro-RO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titular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sold: 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rataDobanzii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numarCont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742475"/>
                  </a:ext>
                </a:extLst>
              </a:tr>
              <a:tr h="1186337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depunere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suma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double): void</a:t>
                      </a:r>
                    </a:p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extragere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suma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double): void</a:t>
                      </a:r>
                    </a:p>
                    <a:p>
                      <a:pPr algn="l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interogareSold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():double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75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580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68A03-B2CC-4143-80AB-9691F69DFBAB}"/>
              </a:ext>
            </a:extLst>
          </p:cNvPr>
          <p:cNvSpPr txBox="1"/>
          <p:nvPr/>
        </p:nvSpPr>
        <p:spPr>
          <a:xfrm>
            <a:off x="4070959" y="488515"/>
            <a:ext cx="49853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Clase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722B4-5594-4612-A85B-6FD0594946C1}"/>
              </a:ext>
            </a:extLst>
          </p:cNvPr>
          <p:cNvSpPr txBox="1"/>
          <p:nvPr/>
        </p:nvSpPr>
        <p:spPr>
          <a:xfrm>
            <a:off x="701458" y="1377863"/>
            <a:ext cx="110980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clasă este o colecție de obiecte cu aceași structură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același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comportament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operaţii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tip de date abstract.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defineşte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atributele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şi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implementează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respectiv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operaţiile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tipului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date abstract.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73369-FDA7-42F0-8363-5506761E9A2D}"/>
              </a:ext>
            </a:extLst>
          </p:cNvPr>
          <p:cNvSpPr txBox="1"/>
          <p:nvPr/>
        </p:nvSpPr>
        <p:spPr>
          <a:xfrm>
            <a:off x="2110017" y="3205695"/>
            <a:ext cx="388306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Clasa </a:t>
            </a:r>
            <a:r>
              <a:rPr lang="ro-RO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Bicicletă</a:t>
            </a:r>
          </a:p>
          <a:p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ro-RO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atribute</a:t>
            </a:r>
          </a:p>
          <a:p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- tip cadru</a:t>
            </a:r>
          </a:p>
          <a:p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- dimensiunea roții</a:t>
            </a:r>
          </a:p>
          <a:p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- număr de viteze</a:t>
            </a:r>
          </a:p>
          <a:p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ro-RO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metode </a:t>
            </a:r>
          </a:p>
          <a:p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- accelerează</a:t>
            </a:r>
          </a:p>
          <a:p>
            <a:r>
              <a:rPr lang="ro-RO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- frânează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38372F-82F4-4AA3-9CBE-7943BDA55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6" y="3005875"/>
            <a:ext cx="3614827" cy="295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92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B95763-E326-4D19-A474-50964750A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771" y="250521"/>
            <a:ext cx="4666229" cy="6235663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4B493C4-4B00-44E6-9E94-7B8621568D0D}"/>
              </a:ext>
            </a:extLst>
          </p:cNvPr>
          <p:cNvCxnSpPr>
            <a:cxnSpLocks/>
          </p:cNvCxnSpPr>
          <p:nvPr/>
        </p:nvCxnSpPr>
        <p:spPr>
          <a:xfrm flipV="1">
            <a:off x="2800350" y="955330"/>
            <a:ext cx="4471988" cy="544858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5612637-E8B9-47A9-B907-9317E2C627D4}"/>
              </a:ext>
            </a:extLst>
          </p:cNvPr>
          <p:cNvSpPr txBox="1"/>
          <p:nvPr/>
        </p:nvSpPr>
        <p:spPr>
          <a:xfrm>
            <a:off x="1429771" y="1131593"/>
            <a:ext cx="1370579" cy="4000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061F4-5A6F-4F1C-92B7-A9616AA2D26A}"/>
              </a:ext>
            </a:extLst>
          </p:cNvPr>
          <p:cNvSpPr txBox="1"/>
          <p:nvPr/>
        </p:nvSpPr>
        <p:spPr>
          <a:xfrm>
            <a:off x="7272338" y="720969"/>
            <a:ext cx="398621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Frac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ție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numele clasei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77A0A8-D269-44D0-AF21-C350AF971D57}"/>
              </a:ext>
            </a:extLst>
          </p:cNvPr>
          <p:cNvSpPr txBox="1"/>
          <p:nvPr/>
        </p:nvSpPr>
        <p:spPr>
          <a:xfrm>
            <a:off x="1719359" y="4772678"/>
            <a:ext cx="1109335" cy="2781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0695E51-5DB8-47F7-A68C-137FE1C52E19}"/>
              </a:ext>
            </a:extLst>
          </p:cNvPr>
          <p:cNvCxnSpPr/>
          <p:nvPr/>
        </p:nvCxnSpPr>
        <p:spPr>
          <a:xfrm flipV="1">
            <a:off x="2800349" y="4547666"/>
            <a:ext cx="4343400" cy="40005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B58A03B-ACDB-4F03-87DF-22149252CABE}"/>
              </a:ext>
            </a:extLst>
          </p:cNvPr>
          <p:cNvSpPr txBox="1"/>
          <p:nvPr/>
        </p:nvSpPr>
        <p:spPr>
          <a:xfrm>
            <a:off x="7184559" y="4339657"/>
            <a:ext cx="398621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numele obiectului – instanța clasei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ECDC4B-A252-467D-A134-D0120B099641}"/>
              </a:ext>
            </a:extLst>
          </p:cNvPr>
          <p:cNvSpPr txBox="1"/>
          <p:nvPr/>
        </p:nvSpPr>
        <p:spPr>
          <a:xfrm>
            <a:off x="2115060" y="1686702"/>
            <a:ext cx="1855691" cy="2781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710FDFE-18BB-43BF-8317-A1FEB5E258D4}"/>
              </a:ext>
            </a:extLst>
          </p:cNvPr>
          <p:cNvCxnSpPr>
            <a:cxnSpLocks/>
          </p:cNvCxnSpPr>
          <p:nvPr/>
        </p:nvCxnSpPr>
        <p:spPr>
          <a:xfrm>
            <a:off x="3970751" y="1929695"/>
            <a:ext cx="3234584" cy="1270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6355903-3E87-47DA-8DF9-195B7883D86A}"/>
              </a:ext>
            </a:extLst>
          </p:cNvPr>
          <p:cNvSpPr txBox="1"/>
          <p:nvPr/>
        </p:nvSpPr>
        <p:spPr>
          <a:xfrm>
            <a:off x="7228448" y="1357382"/>
            <a:ext cx="4769547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clasa are două member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mărător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și 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numitor,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sunt 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astfel nu pot fi accesate din exteriorul clasei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F799F5-FF89-4585-8B9B-EB4D32380F79}"/>
              </a:ext>
            </a:extLst>
          </p:cNvPr>
          <p:cNvSpPr txBox="1"/>
          <p:nvPr/>
        </p:nvSpPr>
        <p:spPr>
          <a:xfrm>
            <a:off x="1691014" y="2141148"/>
            <a:ext cx="1855691" cy="2781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823E3E-EF03-4DA1-8463-CA2B9F97621C}"/>
              </a:ext>
            </a:extLst>
          </p:cNvPr>
          <p:cNvSpPr txBox="1"/>
          <p:nvPr/>
        </p:nvSpPr>
        <p:spPr>
          <a:xfrm>
            <a:off x="1689009" y="2921481"/>
            <a:ext cx="2279371" cy="2532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C260EBC-9DFD-4386-944C-9FE5D58F7533}"/>
              </a:ext>
            </a:extLst>
          </p:cNvPr>
          <p:cNvCxnSpPr>
            <a:cxnSpLocks/>
          </p:cNvCxnSpPr>
          <p:nvPr/>
        </p:nvCxnSpPr>
        <p:spPr>
          <a:xfrm>
            <a:off x="3546705" y="2352651"/>
            <a:ext cx="4895837" cy="769233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1E565D0-CD06-4CE3-AC9E-A2C1AA4DA030}"/>
              </a:ext>
            </a:extLst>
          </p:cNvPr>
          <p:cNvCxnSpPr>
            <a:cxnSpLocks/>
          </p:cNvCxnSpPr>
          <p:nvPr/>
        </p:nvCxnSpPr>
        <p:spPr>
          <a:xfrm>
            <a:off x="3970751" y="3121884"/>
            <a:ext cx="4471791" cy="13924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465935C-E4E3-446A-862A-0527C2C533AB}"/>
              </a:ext>
            </a:extLst>
          </p:cNvPr>
          <p:cNvSpPr txBox="1"/>
          <p:nvPr/>
        </p:nvSpPr>
        <p:spPr>
          <a:xfrm>
            <a:off x="8442542" y="2408923"/>
            <a:ext cx="3394554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ții membre</a:t>
            </a:r>
          </a:p>
          <a:p>
            <a:pPr algn="just"/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afisează() –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afișează datele membre în forma specifică unei fracții ordinale</a:t>
            </a:r>
          </a:p>
          <a:p>
            <a:pPr algn="just"/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seteaza() - 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 valori datelor membre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122B62-297E-40B7-B946-5C78181022DF}"/>
              </a:ext>
            </a:extLst>
          </p:cNvPr>
          <p:cNvSpPr txBox="1"/>
          <p:nvPr/>
        </p:nvSpPr>
        <p:spPr>
          <a:xfrm>
            <a:off x="1809129" y="5275873"/>
            <a:ext cx="1078999" cy="2781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C3CD895-C2BB-41D8-9BE6-1BD7375D72FB}"/>
              </a:ext>
            </a:extLst>
          </p:cNvPr>
          <p:cNvCxnSpPr>
            <a:cxnSpLocks/>
          </p:cNvCxnSpPr>
          <p:nvPr/>
        </p:nvCxnSpPr>
        <p:spPr>
          <a:xfrm>
            <a:off x="2928938" y="5414964"/>
            <a:ext cx="4214811" cy="101961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9FCB12F-CC6A-48DA-9CF2-26AB592E6082}"/>
              </a:ext>
            </a:extLst>
          </p:cNvPr>
          <p:cNvSpPr txBox="1"/>
          <p:nvPr/>
        </p:nvSpPr>
        <p:spPr>
          <a:xfrm>
            <a:off x="7184559" y="4876210"/>
            <a:ext cx="4857326" cy="14157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Accesul la membrii clasei, indiferent dacă sunt date sau funcții, se face asemănător cu cel al câmpurilor unei structuri, prin operatorul de acces direct </a:t>
            </a:r>
            <a:r>
              <a:rPr lang="ro-RO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(punctul)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51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DE5838-DD25-4B68-93B9-F1D82F97762F}"/>
              </a:ext>
            </a:extLst>
          </p:cNvPr>
          <p:cNvSpPr txBox="1"/>
          <p:nvPr/>
        </p:nvSpPr>
        <p:spPr>
          <a:xfrm>
            <a:off x="561474" y="673768"/>
            <a:ext cx="11117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membrii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precizează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anumite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caracteristici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numite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modificatori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specificatori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stabilesc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cum se face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57CC997-CAC6-411D-8F33-40B43D28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42" y="1934371"/>
            <a:ext cx="11014716" cy="2772534"/>
          </a:xfrm>
          <a:prstGeom prst="rect">
            <a:avLst/>
          </a:prstGeom>
          <a:solidFill>
            <a:srgbClr val="F9F2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interzic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accesul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date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afara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clasei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permit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accesul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date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din afara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clasei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interzic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accesul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din afara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clasei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permit din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clasele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derivate – are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contextul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derivării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claselor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2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17BFAD-30D8-4536-B5FA-ACA2D62945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8700" y="298450"/>
            <a:ext cx="4733925" cy="6299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13FDAD-4F26-4C1F-9D98-27F1B4D925E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38876" y="298450"/>
            <a:ext cx="481965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722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422</TotalTime>
  <Words>606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Magdalena Moraru</dc:creator>
  <cp:lastModifiedBy>Magdalena Moraru</cp:lastModifiedBy>
  <cp:revision>14</cp:revision>
  <dcterms:created xsi:type="dcterms:W3CDTF">2025-01-23T12:09:49Z</dcterms:created>
  <dcterms:modified xsi:type="dcterms:W3CDTF">2026-01-27T05:41:19Z</dcterms:modified>
</cp:coreProperties>
</file>